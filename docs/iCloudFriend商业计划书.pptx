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notesSlides/notesSlide1.xml" Type="http://schemas.openxmlformats.org/officeDocument/2006/relationships/notesSlide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38" Target="notesSlides/notesSlide14.xml" Type="http://schemas.openxmlformats.org/officeDocument/2006/relationships/notesSlide"/><Relationship Id="rId39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6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PhotoGuard项目的商业计划报告会。今天，我们将向大家介绍一款革命性的iPhone照片备份工具。我们的使命是解决用户在照片管理中面临的隐私、成本和效率难题。PhotoGuard，将让您的珍贵回忆只掌握在自己手中，安全备份从未如此简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报告将分为七个部分。首先，我将通过执行摘要快速介绍项目全貌。接着，我们会深入分析市场痛点与机会。然后，我们会展示我们的解决方案、商业模式和发展规划。最后，将介绍我们的团队、财务预测以及融资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执行摘要。PhotoGuard旨在解决iPhone用户在照片备份中遇到的成本、隐私和体验三大痛点。我们提供纯本地、高性价比、技术卓越的解决方案，核心优势在于隐私优先、技术壁垒和创新的商业模式。我们寻求500万人民币的种子轮融资，以快速占领市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我们深入分析市场痛点。首先是官方方案的双重枷锁。一方面，iCloud的订阅成本高昂，用户每年花费不菲。另一方面，其“同步”而非“备份”的机制存在巨大风险，误删即永久丢失。更重要的是，将海量隐私数据放在云端，始终让用户感到不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其次，第三方云服务也存在信任危机。用户对服务商的隐私政策感到担忧，同时免费用户饱受速度限制的困扰。更关键的是，它们对苹果特有的照片格式支持不佳，影响了备份的完整性。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现有的本地工具也存在明显的体验鸿沟。系统原生工具功能简陋，而功能强大的付费工具价格又太高，免费工具则体验不佳。综上所述，市场上存在一个巨大的空白，急需一款安全、高效、易用且价格合理的解决方案。这正是iCloudFriend的机会所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所处的市场规模巨大且持续增长。全球有超过1.56亿的iPhone用户，这是一个高价值的用户群体。个人云存储和数据备份市场规模均以惊人的速度增长。特别是在中国，照片管理软件市场规模已超50亿人民币。数据量爆炸、隐私需求觉醒和AI技术赋能是三大核心增长驱动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目标用户主要分为四类：对质量要求极高的摄影爱好者，重视安全的家庭用户，追求效率的商务人士，以及高度关注隐私的敏感用户。PhotoGuard精准地满足了他们的核心诉求，在巨头林立的市场中找到了一个独特的切入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的竞争格局分析矩阵。我们将主要对手分为三类：官方云服务、第三方云存储和专业备份工具。可以看到，PhotoGuard在隐私安全、成本结构和核心功能上形成了显著的差异化优势。我们的纯本地模式、亲民的买断制和极简的UI设计，是我们的核心竞争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总结一下我们的竞争优势。与云服务相比，我们提供了绝对的隐私安全和无与伦比的传输速度。与昂贵的专业工具相比，我们提供了极致的性价比和极简的用户体验。我们精准地找到了市场的空白地带。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产品iCloudFriend主要面向两类核心用户。第一类是摄影爱好者和专业人士，他们需要处理大量高清照片和视频，对备份速度和原图质量要求极高。第二类是广大的家庭用户，他们希望简单、安全地保存家庭的珍贵回忆，而不希望被复杂的技术或隐私问题所困扰。iCloudFriend正是为满足这两类用户的核心需求而设计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iCloudFriend的差异化竞争力体现在哪里呢？我们总结为四点：极致便捷、绝对经济、银行级隐私和智能体验。我们通过Wi-Fi直连实现了一键备份的便捷性；通过买断制提供了无与伦比的经济性；通过点对点传输保证了绝对的隐私安全；最后通过AI赋能，提供了智能无忧的管理体验。这四大优势共同构成了我们强大的市场竞争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商业模式非常清晰，采用的是成熟的“免费增值”模式。基础版永久免费，提供核心的备份功能，旨在快速获取用户。当用户需要更多高级功能，如无限备份、AI智能整理等，只需一次性支付99元，即可解锁专业版，并享受终身免费升级。这种模式既降低了用户的使用门槛，又保证了产品的持续发展和盈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针对这些场景，我们提供了三大核心解决方案。首先，我们坚持纯本地高速备份，通过USB直连，既保证了绝对的隐私安全，又提供了无与伦比的传输速度。其次，我们的智能增量备份和断点续传技术，让备份过程变得前所未有的高效和可靠。最后，我们不仅完美兼容所有iPhone照片格式，还通过AI智能整理，帮助用户轻松管理海量照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具体来说，我们的产品功能非常强大。核心功能包括USB高速传输、原图无损备份、智能增量备份和断点续传，这些功能确保了备份的核心体验。在此基础上，我们还提供了AI智能整理、重复照片清理等特色功能，极大地提升了产品的价值。我们完美支持HEIC、RAW和Live Photos等所有苹果格式，真正做到了全面兼容。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市场推广方面，我们制定了清晰的三步走策略。第一阶段，我们将通过媒体合作和内容营销，精准获取第一批种子用户。第二阶段，我们将重点发力口碑营销和病毒传播，实现用户量的快速增长。第三阶段，我们将通过更广泛的渠道和合作，实现规模化增长，最终成为市场的领导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.svg" Type="http://schemas.openxmlformats.org/officeDocument/2006/relationships/image"/><Relationship Id="rId11" Target="../notesSlides/notesSlide3.xml" Type="http://schemas.openxmlformats.org/officeDocument/2006/relationships/notesSlid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4.xml" Type="http://schemas.openxmlformats.org/officeDocument/2006/relationships/notesSlide"/><Relationship Id="rId2" Target="../media/image1.jpeg" Type="http://schemas.openxmlformats.org/officeDocument/2006/relationships/image"/><Relationship Id="rId3" Target="../media/image10.jpe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5.xml" Type="http://schemas.openxmlformats.org/officeDocument/2006/relationships/notesSlide"/><Relationship Id="rId2" Target="../media/image1.jpeg" Type="http://schemas.openxmlformats.org/officeDocument/2006/relationships/image"/><Relationship Id="rId3" Target="../media/image17.jpe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.svg" Type="http://schemas.openxmlformats.org/officeDocument/2006/relationships/image"/><Relationship Id="rId11" Target="../notesSlides/notesSlide6.xml" Type="http://schemas.openxmlformats.org/officeDocument/2006/relationships/notesSlide"/><Relationship Id="rId2" Target="../media/image1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7.xml" Type="http://schemas.openxmlformats.org/officeDocument/2006/relationships/notesSlide"/><Relationship Id="rId2" Target="../media/image1.jpeg" Type="http://schemas.openxmlformats.org/officeDocument/2006/relationships/image"/><Relationship Id="rId3" Target="../media/image26.jpe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6.svg" Type="http://schemas.openxmlformats.org/officeDocument/2006/relationships/image"/><Relationship Id="rId11" Target="../media/image37.png" Type="http://schemas.openxmlformats.org/officeDocument/2006/relationships/image"/><Relationship Id="rId12" Target="../media/image38.svg" Type="http://schemas.openxmlformats.org/officeDocument/2006/relationships/image"/><Relationship Id="rId13" Target="../notesSlides/notesSlide8.xml" Type="http://schemas.openxmlformats.org/officeDocument/2006/relationships/notesSlide"/><Relationship Id="rId2" Target="../media/image1.jpe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0.xml" Type="http://schemas.openxmlformats.org/officeDocument/2006/relationships/notesSlide"/><Relationship Id="rId2" Target="../media/image1.jpeg" Type="http://schemas.openxmlformats.org/officeDocument/2006/relationships/image"/><Relationship Id="rId3" Target="../media/image39.jpeg" Type="http://schemas.openxmlformats.org/officeDocument/2006/relationships/image"/><Relationship Id="rId4" Target="../media/image40.jpe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3.jpeg" Type="http://schemas.openxmlformats.org/officeDocument/2006/relationships/image"/><Relationship Id="rId8" Target="../media/image44.png" Type="http://schemas.openxmlformats.org/officeDocument/2006/relationships/image"/><Relationship Id="rId9" Target="../media/image4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media/image26.jpeg" Type="http://schemas.openxmlformats.org/officeDocument/2006/relationships/image"/><Relationship Id="rId7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2.xml" Type="http://schemas.openxmlformats.org/officeDocument/2006/relationships/notesSlide"/><Relationship Id="rId2" Target="../media/image50.png" Type="http://schemas.openxmlformats.org/officeDocument/2006/relationships/image"/><Relationship Id="rId3" Target="../media/image51.svg" Type="http://schemas.openxmlformats.org/officeDocument/2006/relationships/image"/><Relationship Id="rId4" Target="../media/image52.png" Type="http://schemas.openxmlformats.org/officeDocument/2006/relationships/image"/><Relationship Id="rId5" Target="../media/image53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media/image54.png" Type="http://schemas.openxmlformats.org/officeDocument/2006/relationships/image"/><Relationship Id="rId9" Target="../media/image5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4.png" Type="http://schemas.openxmlformats.org/officeDocument/2006/relationships/image"/><Relationship Id="rId11" Target="../media/image65.svg" Type="http://schemas.openxmlformats.org/officeDocument/2006/relationships/image"/><Relationship Id="rId12" Target="../notesSlides/notesSlide13.xml" Type="http://schemas.openxmlformats.org/officeDocument/2006/relationships/notesSlide"/><Relationship Id="rId2" Target="../media/image56.png" Type="http://schemas.openxmlformats.org/officeDocument/2006/relationships/image"/><Relationship Id="rId3" Target="../media/image57.svg" Type="http://schemas.openxmlformats.org/officeDocument/2006/relationships/image"/><Relationship Id="rId4" Target="../media/image58.png" Type="http://schemas.openxmlformats.org/officeDocument/2006/relationships/image"/><Relationship Id="rId5" Target="../media/image59.svg" Type="http://schemas.openxmlformats.org/officeDocument/2006/relationships/image"/><Relationship Id="rId6" Target="../media/image60.png" Type="http://schemas.openxmlformats.org/officeDocument/2006/relationships/image"/><Relationship Id="rId7" Target="../media/image61.svg" Type="http://schemas.openxmlformats.org/officeDocument/2006/relationships/image"/><Relationship Id="rId8" Target="../media/image62.png" Type="http://schemas.openxmlformats.org/officeDocument/2006/relationships/image"/><Relationship Id="rId9" Target="../media/image6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6.png" Type="http://schemas.openxmlformats.org/officeDocument/2006/relationships/image"/><Relationship Id="rId3" Target="../media/image67.svg" Type="http://schemas.openxmlformats.org/officeDocument/2006/relationships/image"/><Relationship Id="rId4" Target="../media/image68.png" Type="http://schemas.openxmlformats.org/officeDocument/2006/relationships/image"/><Relationship Id="rId5" Target="../media/image69.svg" Type="http://schemas.openxmlformats.org/officeDocument/2006/relationships/image"/><Relationship Id="rId6" Target="../media/image70.png" Type="http://schemas.openxmlformats.org/officeDocument/2006/relationships/image"/><Relationship Id="rId7" Target="../media/image71.svg" Type="http://schemas.openxmlformats.org/officeDocument/2006/relationships/image"/><Relationship Id="rId8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0.png" Type="http://schemas.openxmlformats.org/officeDocument/2006/relationships/image"/><Relationship Id="rId11" Target="../media/image81.svg" Type="http://schemas.openxmlformats.org/officeDocument/2006/relationships/image"/><Relationship Id="rId12" Target="../media/image82.png" Type="http://schemas.openxmlformats.org/officeDocument/2006/relationships/image"/><Relationship Id="rId13" Target="../media/image83.svg" Type="http://schemas.openxmlformats.org/officeDocument/2006/relationships/image"/><Relationship Id="rId14" Target="../media/image84.png" Type="http://schemas.openxmlformats.org/officeDocument/2006/relationships/image"/><Relationship Id="rId15" Target="../media/image85.svg" Type="http://schemas.openxmlformats.org/officeDocument/2006/relationships/image"/><Relationship Id="rId16" Target="../media/image86.png" Type="http://schemas.openxmlformats.org/officeDocument/2006/relationships/image"/><Relationship Id="rId17" Target="../media/image87.svg" Type="http://schemas.openxmlformats.org/officeDocument/2006/relationships/image"/><Relationship Id="rId18" Target="../media/image88.jpeg" Type="http://schemas.openxmlformats.org/officeDocument/2006/relationships/image"/><Relationship Id="rId19" Target="../media/image89.jpeg" Type="http://schemas.openxmlformats.org/officeDocument/2006/relationships/image"/><Relationship Id="rId2" Target="../media/image72.png" Type="http://schemas.openxmlformats.org/officeDocument/2006/relationships/image"/><Relationship Id="rId20" Target="../media/image90.jpeg" Type="http://schemas.openxmlformats.org/officeDocument/2006/relationships/image"/><Relationship Id="rId21" Target="../notesSlides/notesSlide15.xml" Type="http://schemas.openxmlformats.org/officeDocument/2006/relationships/notesSlide"/><Relationship Id="rId3" Target="../media/image73.svg" Type="http://schemas.openxmlformats.org/officeDocument/2006/relationships/image"/><Relationship Id="rId4" Target="../media/image74.png" Type="http://schemas.openxmlformats.org/officeDocument/2006/relationships/image"/><Relationship Id="rId5" Target="../media/image75.svg" Type="http://schemas.openxmlformats.org/officeDocument/2006/relationships/image"/><Relationship Id="rId6" Target="../media/image76.png" Type="http://schemas.openxmlformats.org/officeDocument/2006/relationships/image"/><Relationship Id="rId7" Target="../media/image77.svg" Type="http://schemas.openxmlformats.org/officeDocument/2006/relationships/image"/><Relationship Id="rId8" Target="../media/image78.png" Type="http://schemas.openxmlformats.org/officeDocument/2006/relationships/image"/><Relationship Id="rId9" Target="../media/image7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1.png" Type="http://schemas.openxmlformats.org/officeDocument/2006/relationships/image"/><Relationship Id="rId3" Target="../media/image92.svg" Type="http://schemas.openxmlformats.org/officeDocument/2006/relationships/image"/><Relationship Id="rId4" Target="../media/image93.png" Type="http://schemas.openxmlformats.org/officeDocument/2006/relationships/image"/><Relationship Id="rId5" Target="../media/image94.svg" Type="http://schemas.openxmlformats.org/officeDocument/2006/relationships/image"/><Relationship Id="rId6" Target="../media/image95.png" Type="http://schemas.openxmlformats.org/officeDocument/2006/relationships/image"/><Relationship Id="rId7" Target="../media/image96.svg" Type="http://schemas.openxmlformats.org/officeDocument/2006/relationships/image"/><Relationship Id="rId8" Target="../notesSlides/notesSlide16.xml" Type="http://schemas.openxmlformats.org/officeDocument/2006/relationships/notesSlide"/><Relationship Id="rId9" Target="../media/image9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286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iCloudFriend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556000"/>
            <a:ext cx="101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064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便捷、经济、隐私安全，专为iPhone与Windows打造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4953000"/>
            <a:ext cx="952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通过高速Wi-Fi，轻松将iPhone照片备份到您的Windows电脑，体验前所未有的备份新方式。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6096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发布日期：2026年6月15日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032000"/>
            <a:ext cx="762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133600"/>
            <a:ext cx="76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2C55E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032000" y="2133600"/>
            <a:ext cx="3746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执行摘要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涵盖项目核心简介，直击市场痛点，阐述解决方案与核心竞争优势，明确本轮融资需求。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302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302000"/>
            <a:ext cx="762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403600"/>
            <a:ext cx="76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2C55E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032000" y="3403600"/>
            <a:ext cx="3746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市场分析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深度剖析行业市场痛点，测算整体市场规模，精准定位核心目标用户群体与需求特征。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572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572000"/>
            <a:ext cx="762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673600"/>
            <a:ext cx="76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2C55E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032000" y="4673600"/>
            <a:ext cx="3746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竞争格局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通过竞品分析矩阵对比市场现有产品，提炼差异化优势，总结项目在行业中的竞争地位。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0" y="2032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0" y="2032000"/>
            <a:ext cx="762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04000" y="2133600"/>
            <a:ext cx="76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2C55E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0" y="2133600"/>
            <a:ext cx="3746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详述产品核心功能与特色服务，结合优质的UI/UX设计，为用户提供高效、流畅的使用体验。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350000" y="3302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350000" y="3302000"/>
            <a:ext cx="762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604000" y="3403600"/>
            <a:ext cx="76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2C55E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0" y="3403600"/>
            <a:ext cx="3746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商业模式与营销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构建清晰可持续的盈利模式，制定分阶段的市场营销策略，实现用户增长与商业价值转化。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350000" y="4572000"/>
            <a:ext cx="25019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350000" y="4572000"/>
            <a:ext cx="762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540500" y="4673600"/>
            <a:ext cx="63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2C55E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540500" y="5334000"/>
            <a:ext cx="215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发展规划与团队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明确产品迭代路线，展示核心团队背景与能力优势。</a:t>
            </a:r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9055100" y="4572000"/>
            <a:ext cx="25019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055100" y="4572000"/>
            <a:ext cx="762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9245600" y="4673600"/>
            <a:ext cx="63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2C55E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9245600" y="5334000"/>
            <a:ext cx="215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财务与融资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呈现详细财务预测数据，明确资金用途与融资计划。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执行摘要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iCloudFriend 是一款专为 iPhone 用户打造的照片备份工具，致力于解决当前市场上云备份服务成本高昂、隐私泄露风险以及操作不便的核心痛点。我们通过创新的高速 Wi-Fi 技术，提供一个便捷、经济、且安全的照片备份到 Windows 电脑的解决方案。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92" flipH="false" flipV="false">
            <a:off x="762004" y="253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62000" y="2921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92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3175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31496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便捷体验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3810000"/>
            <a:ext cx="304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通过高速Wi-Fi直连，无需数据线，一键操作即可完成备份，让照片传输像呼吸一样自然。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81500" y="2921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81500" y="292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72000" y="31750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016500" y="31496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经济实惠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72000" y="3810000"/>
            <a:ext cx="304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基础功能永久免费，高级功能一次性买断，无任何订阅费用，长期使用成本几乎为零。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01000" y="2921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01000" y="292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191500" y="31750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636000" y="31496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隐私安全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191500" y="3810000"/>
            <a:ext cx="304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数据通过局域网点对点传输，不经过任何云端服务器，确保您的珍贵照片绝对安全。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5588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5791200"/>
            <a:ext cx="406400" cy="4064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1778000" y="5740400"/>
            <a:ext cx="4064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融资计划：种子轮 500 万人民币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用于技术迭代、市场推广及团队扩充，加速产品落地。</a:t>
            </a:r>
          </a:p>
        </p:txBody>
      </p:sp>
      <p:cxnSp>
        <p:nvCxnSpPr>
          <p:cNvPr name="Connector 24" id="24"/>
          <p:cNvCxnSpPr/>
          <p:nvPr/>
        </p:nvCxnSpPr>
        <p:spPr>
          <a:xfrm rot="5314074" flipH="false" flipV="false">
            <a:off x="5842000" y="60262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6350000" y="5740400"/>
            <a:ext cx="4699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核心目标：18个月内获取 100 万种子用户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快速占领市场，构建用户生态，确立品类领先地位。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市场痛点分析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1186" r="1186" t="0" b="0"/>
          <a:stretch>
            <a:fillRect/>
          </a:stretch>
        </p:blipFill>
        <p:spPr>
          <a:xfrm rot="0" flipH="false" flipV="false">
            <a:off x="762000" y="1651000"/>
            <a:ext cx="4826000" cy="330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207000"/>
            <a:ext cx="482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图示为iCloud存储管理界面，用户常面临“存储已满”的警告。免费的5GB空间在高清照片和视频时代已完全无法满足需求，迫使用户不得不选择付费升级。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5390708" flipH="false" flipV="false">
            <a:off x="3746500" y="3994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6350000" y="1651000"/>
            <a:ext cx="5080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540500" y="18415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7112000" y="1778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高昂的订阅成本枷锁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9291" flipH="false" flipV="false">
            <a:off x="6540509" y="234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6540500" y="2476500"/>
            <a:ext cx="469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免费5GB空间形同虚设，2TB方案月费9.99美元，用户年均存储支出超60美元，长期持有成本居高不下，成为用户的持续性经济负担。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3302000"/>
            <a:ext cx="5080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540500" y="34925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7112000" y="3429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“同步”而非“备份”的致命缺陷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9291" flipH="false" flipV="false">
            <a:off x="6540509" y="399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6540500" y="4127500"/>
            <a:ext cx="469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iCloud本质是同步服务，而非备份服务。一旦设备端误删照片，所有关联设备会同步删除，且恢复窗口期短，极易造成珍贵数据永久丢失。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0" y="4953000"/>
            <a:ext cx="5080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540500" y="51435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112000" y="5080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云端隐私数据的安全隐忧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9291" flipH="false" flipV="false">
            <a:off x="6540509" y="5645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6540500" y="5740400"/>
            <a:ext cx="469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海量个人隐私数据托管云端，存在被攻击、泄露的风险。调研显示，58%的消费者认为数据泄露风险是他们使用云存储服务的主要心理障碍。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市场痛点分析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14" b="14"/>
          <a:stretch>
            <a:fillRect/>
          </a:stretch>
        </p:blipFill>
        <p:spPr>
          <a:xfrm rot="0" flipH="false" flipV="false">
            <a:off x="762000" y="1778000"/>
            <a:ext cx="4572000" cy="3556000"/>
          </a:xfrm>
          <a:prstGeom prst="rect">
            <a:avLst/>
          </a:prstGeom>
          <a:noFill/>
          <a:ln w="254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524500"/>
            <a:ext cx="457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第三方云服务不仅面临数据泄露的安全隐患，更在服务体验和技术适配性上存在诸多短板，难以满足用户对数据安全与使用便捷的双重需求。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5390450" flipH="false" flipV="false">
            <a:off x="3556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6096000" y="1778000"/>
            <a:ext cx="5588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0" y="1778000"/>
            <a:ext cx="508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0" y="19304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921500" y="1930400"/>
            <a:ext cx="457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隐私政策的不确定性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2413000"/>
            <a:ext cx="4826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国内主流云服务商隐私政策普遍授予自身广泛的数据使用权，用户难以完全放心将包含个人回忆的珍贵照片托付，存在隐私泄露与滥用的潜在风险。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096000" y="3429000"/>
            <a:ext cx="5588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6000" y="3429000"/>
            <a:ext cx="508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0" y="35814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921500" y="3581400"/>
            <a:ext cx="457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速度限制与“隐形门槛”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4064000"/>
            <a:ext cx="4826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免费用户普遍面临严重的上传、下载速度限制，想要获得可接受的使用体验，往往需要购买价格不菲的会员服务，大幅增加了长期使用的成本。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096000" y="5080000"/>
            <a:ext cx="5588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096000" y="5080000"/>
            <a:ext cx="508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350000" y="52324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921500" y="5232400"/>
            <a:ext cx="457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特殊照片格式的兼容性缺失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350000" y="5651500"/>
            <a:ext cx="4826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对苹果生态特有的 HEIC、Live Photos 和 RAW 格式支持不佳，常导致上传后格式自动转换或动态信息丢失，破坏了照片的原始完整性。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市场痛点分析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429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20320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原生工具功能简陋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946" flipH="false" flipV="false">
            <a:off x="10160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2921000"/>
            <a:ext cx="2921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Windows自带工具操作繁琐，仅支持基础导入，无法实现增量备份。且缺乏智能整理、重复清理等进阶功能，难以满足用户的精细化管理需求。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81500" y="1778000"/>
            <a:ext cx="3429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81500" y="177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2032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143500" y="20320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付费工具价格不菲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4946" flipH="false" flipV="false">
            <a:off x="46355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635500" y="2921000"/>
            <a:ext cx="2921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iMazing、AnyTrans等专业工具功能虽强，但订阅或买断费用高昂。AnyTrans终身授权约60美元，过高的门槛让普通个人用户难以接受。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01000" y="1778000"/>
            <a:ext cx="3429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01000" y="177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55000" y="20320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763000" y="20320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免费工具体验极差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4946" flipH="false" flipV="false">
            <a:off x="8255014" y="266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255000" y="2921000"/>
            <a:ext cx="2921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市面上的免费工具普遍充斥广告弹窗，且存在功能限制、界面老旧、数据传输不稳定等问题，无法保障用户数据安全与使用流畅度。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207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5397500"/>
            <a:ext cx="304800" cy="3048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1524000" y="5359400"/>
            <a:ext cx="9652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市场迫切需要一款既能保证用户数据绝对隐私安全，又具备高速传输、便捷管理、无损备份能力，且价格合理的 iPhone 照片管理工具，填补现有方案的空白。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市场规模与机会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0" b="42307"/>
          <a:stretch>
            <a:fillRect/>
          </a:stretch>
        </p:blipFill>
        <p:spPr>
          <a:xfrm rot="0" flipH="false" flipV="false">
            <a:off x="762000" y="1778000"/>
            <a:ext cx="3302000" cy="304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080000"/>
            <a:ext cx="330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核心用户群体聚焦高价值iPhone用户，他们对生活记录、隐私安全与数据资产化有着天然的强需求，是产品的核心受众。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5390450" flipH="false" flipV="false">
            <a:off x="2286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4826000" y="1778000"/>
            <a:ext cx="215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953000" y="19050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全球活跃iPhone用户(2026)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953000" y="2413000"/>
            <a:ext cx="190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1.56 亿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175500" y="1778000"/>
            <a:ext cx="215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302500" y="19050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个人云存储市场规模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302500" y="2413000"/>
            <a:ext cx="190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$952.2 亿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461500" y="1778000"/>
            <a:ext cx="215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588500" y="19050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个人云存储市场 CAGR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588500" y="2413000"/>
            <a:ext cx="190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26.1%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826000" y="3556000"/>
            <a:ext cx="67945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826000" y="3556000"/>
            <a:ext cx="762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080000" y="3683000"/>
            <a:ext cx="304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中国照片管理软件市场 (2026E)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预计规模达</a:t>
            </a: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¥53.2 亿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，保持强劲的市场活力。</a:t>
            </a:r>
          </a:p>
        </p:txBody>
      </p:sp>
      <p:cxnSp>
        <p:nvCxnSpPr>
          <p:cNvPr name="Connector 19" id="19"/>
          <p:cNvCxnSpPr/>
          <p:nvPr/>
        </p:nvCxnSpPr>
        <p:spPr>
          <a:xfrm rot="5347115" flipH="false" flipV="false">
            <a:off x="7778750" y="41529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B728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8382000" y="3683000"/>
            <a:ext cx="304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同比增长 12.5%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数据备份市场规模同步达到 $343.4 亿，行业发展空间广阔。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826000" y="5080000"/>
            <a:ext cx="2159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953000" y="52070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5334000" y="5207000"/>
            <a:ext cx="1587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数据量爆炸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953000" y="5715000"/>
            <a:ext cx="190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用户年均拍摄超2400张，海量数据亟需高效管理工具。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175500" y="5080000"/>
            <a:ext cx="2159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302500" y="5207000"/>
            <a:ext cx="304800" cy="3048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7683500" y="5207000"/>
            <a:ext cx="1587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隐私需求觉醒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302500" y="5715000"/>
            <a:ext cx="190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用户对本地化、去中心化的隐私保护方案需求激增。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9461500" y="5080000"/>
            <a:ext cx="2159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588500" y="5207000"/>
            <a:ext cx="304800" cy="3048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9969500" y="5207000"/>
            <a:ext cx="1587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 技术赋能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9588500" y="5715000"/>
            <a:ext cx="1905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AI驱动的智能分类与管理功能，极大提升了产品的核心价值。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市场规模与机会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76200" cy="1841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1841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51000" y="1803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摄影爱好者与专业人士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291" flipH="false" flipV="false">
            <a:off x="1079509" y="240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79500" y="2540000"/>
            <a:ext cx="4762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拥有大量高分辨率照片与视频素材，对存储速度、画质质量和整理效率要求极高，是付费意愿最强的核心用户群体。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86500" y="1651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86500" y="1651000"/>
            <a:ext cx="76200" cy="1841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04000" y="1841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7175500" y="1803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家庭用户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291" flipH="false" flipV="false">
            <a:off x="6604009" y="240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604000" y="2540000"/>
            <a:ext cx="4762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存储儿童成长记录、家庭聚会影像，核心诉求是数据的绝对安全与长期留存，需要简单、可靠、易于上手的备份方案。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810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3810000"/>
            <a:ext cx="76200" cy="1841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79500" y="40005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651000" y="3962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商务人士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9291" flipH="false" flipV="false">
            <a:off x="1079509" y="4565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1079500" y="4699000"/>
            <a:ext cx="4762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频繁拍摄会议纪要、白板内容与文档资料，需求集中在快速备份、智能整理和便捷分享，追求高效的资料管理体验。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86500" y="3810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86500" y="3810000"/>
            <a:ext cx="76200" cy="1841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04000" y="4000500"/>
            <a:ext cx="406400" cy="406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7175500" y="39624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隐私敏感用户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9291" flipH="false" flipV="false">
            <a:off x="6604009" y="4565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6604000" y="4699000"/>
            <a:ext cx="4762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对云端存储的数据泄露风险持强烈保留态度，是“本地备份”理念的天然拥护者，极度重视数据的物理控制权与私密性。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" y="5842000"/>
            <a:ext cx="107950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mpd="sng" cap="flat">
            <a:solidFill>
              <a:srgbClr val="22C55E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6007100"/>
            <a:ext cx="431800" cy="4318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1651000" y="5905500"/>
            <a:ext cx="965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iCloudFriend 精准切入“隐私安全”与“极致性价比”，填补了云服务巨头隐私缺失、商业软件价格高昂的市场空白，在细分领域具备极强竞争力。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竞争格局分析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2540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solidFill>
              <a:srgbClr val="22C55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2540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2032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iCloudFriend (我们)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9098" flipH="false" flipV="false">
            <a:off x="889018" y="2533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889000" y="27305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核心优势：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便捷、经济、隐私安全。完美平衡了用户对备份体验的三大核心诉求。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9098" flipH="false" flipV="false">
            <a:off x="889018" y="3676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889000" y="3810000"/>
            <a:ext cx="2286000" cy="184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成本：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基础免费+增值买断，无长期订阅负担。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体验：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USB 3.0极速传输，极简UI，AI智能分类整理，断点续传支持完善。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556000" y="1778000"/>
            <a:ext cx="2540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556000" y="1778000"/>
            <a:ext cx="2540000" cy="76200"/>
          </a:xfrm>
          <a:prstGeom prst="roundRect">
            <a:avLst>
              <a:gd name="adj" fmla="val 0"/>
            </a:avLst>
          </a:prstGeom>
          <a:solidFill>
            <a:srgbClr val="9CA3A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683000" y="2032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iCloud (苹果)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9098" flipH="false" flipV="false">
            <a:off x="3683018" y="2533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3683000" y="27305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核心模式：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云端同步，与苹果生态深度绑定，无缝衔接设备使用。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9098" flipH="false" flipV="false">
            <a:off x="3683018" y="3676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3683000" y="3810000"/>
            <a:ext cx="2286000" cy="184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短板：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订阅制长期成本高，数据存储于云端存在隐私风险，传输速度完全依赖网络质量。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优势：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系统级集成，后台自动同步，无需手动操作。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0" y="1778000"/>
            <a:ext cx="2540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1778000"/>
            <a:ext cx="2540000" cy="76200"/>
          </a:xfrm>
          <a:prstGeom prst="roundRect">
            <a:avLst>
              <a:gd name="adj" fmla="val 0"/>
            </a:avLst>
          </a:prstGeom>
          <a:solidFill>
            <a:srgbClr val="9CA3A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2032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百度网盘/腾讯微云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19098" flipH="false" flipV="false">
            <a:off x="6477018" y="2533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477000" y="27305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核心模式：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中心化云存储，主打大容量、多端共享，是大众主流的文件存储方案。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19098" flipH="false" flipV="false">
            <a:off x="6477018" y="3676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6477000" y="3810000"/>
            <a:ext cx="2286000" cy="184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短板：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免费版严重限速，会员成本逐年上升；文件转码导致画质损失，隐私安全依赖服务商自律。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017000" y="1778000"/>
            <a:ext cx="2540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017000" y="1778000"/>
            <a:ext cx="2540000" cy="76200"/>
          </a:xfrm>
          <a:prstGeom prst="roundRect">
            <a:avLst>
              <a:gd name="adj" fmla="val 0"/>
            </a:avLst>
          </a:prstGeom>
          <a:solidFill>
            <a:srgbClr val="9CA3A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144000" y="2032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iMazing / AnyTrans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19098" flipH="false" flipV="false">
            <a:off x="9144018" y="2533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9144000" y="27305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核心模式：</a:t>
            </a: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专业的本地/云混合管理工具，面向深度用户，功能全面且强大。</a:t>
            </a:r>
            <a:endParaRPr lang="en-US" sz="1100"/>
          </a:p>
        </p:txBody>
      </p:sp>
      <p:cxnSp>
        <p:nvCxnSpPr>
          <p:cNvPr name="Connector 30" id="30"/>
          <p:cNvCxnSpPr/>
          <p:nvPr/>
        </p:nvCxnSpPr>
        <p:spPr>
          <a:xfrm rot="-19098" flipH="false" flipV="false">
            <a:off x="9144018" y="3676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31" id="31"/>
          <p:cNvSpPr/>
          <p:nvPr/>
        </p:nvSpPr>
        <p:spPr>
          <a:xfrm rot="0" flipH="false" flipV="false">
            <a:off x="9144000" y="3810000"/>
            <a:ext cx="2286000" cy="184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短板：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买断费用高昂，功能繁杂导致学习成本高，界面交互不够友好，新手难以快速上手。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62000" y="6032500"/>
            <a:ext cx="10795000" cy="571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89000" y="6096000"/>
            <a:ext cx="10541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我们的核心优势：iCloudFriend凭借</a:t>
            </a:r>
            <a:r>
              <a:rPr lang="en-US" b="tru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「便捷的无线体验 + 经济的买断模式 + 绝对的隐私安全」</a:t>
            </a:r>
            <a:r>
              <a:rPr lang="en-US" b="fals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的综合优势，精准切入市场空白，满足了用户的核心需求。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竞争格局分析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2032000"/>
            <a:ext cx="1397000" cy="1397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rcRect l="14583" r="14583" t="0" b="0"/>
          <a:stretch>
            <a:fillRect/>
          </a:stretch>
        </p:blipFill>
        <p:spPr>
          <a:xfrm rot="0" flipH="false" flipV="false">
            <a:off x="2413000" y="2032000"/>
            <a:ext cx="1397000" cy="1397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4000500" y="2032000"/>
            <a:ext cx="2032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VS. 主流云存储服务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对标 iCloud、百度网盘等成熟云服务产品，直击用户核心使用痛点。</a:t>
            </a:r>
          </a:p>
        </p:txBody>
      </p:sp>
      <p:cxnSp>
        <p:nvCxnSpPr>
          <p:cNvPr name="Connector 8" id="8"/>
          <p:cNvCxnSpPr/>
          <p:nvPr/>
        </p:nvCxnSpPr>
        <p:spPr>
          <a:xfrm rot="-8283" flipH="false" flipV="false">
            <a:off x="762008" y="3803650"/>
            <a:ext cx="5270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762000" y="4064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" y="42545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97000" y="42164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核心优势：隐私安全与便捷体验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52500" y="4826000"/>
            <a:ext cx="4889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无需联网即可完成备份，彻底规避云端隐私泄露风险，操作流程极简，无需复杂设置即可上手。相比传统云服务的网络依赖与隐私隐患，我们兼顾了数据安全与使用便捷性，让备份更省心。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5390450" flipH="false" flipV="false">
            <a:off x="39624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477000" y="1778000"/>
            <a:ext cx="514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6477000" y="2032000"/>
            <a:ext cx="1397000" cy="1397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8128000" y="2032000"/>
            <a:ext cx="3492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VS. 专业级管理工具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对标 iMazing、AnyTrans 等付费工具，以极简设计降低专业门槛。</a:t>
            </a:r>
          </a:p>
        </p:txBody>
      </p:sp>
      <p:cxnSp>
        <p:nvCxnSpPr>
          <p:cNvPr name="Connector 17" id="17"/>
          <p:cNvCxnSpPr/>
          <p:nvPr/>
        </p:nvCxnSpPr>
        <p:spPr>
          <a:xfrm rot="-8488" flipH="false" flipV="false">
            <a:off x="6477008" y="3803650"/>
            <a:ext cx="514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6477000" y="4064000"/>
            <a:ext cx="5143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667500" y="42545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112000" y="42164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核心优势：极致性价比与简洁体验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667500" y="4826000"/>
            <a:ext cx="4762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摒弃专业工具的冗余功能与高昂定价，以更亲民的成本和极简的操作界面，聚焦核心备份需求。大幅降低用户的使用门槛与决策成本，让人人都能轻松享受高效的数据管理体验。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4826000"/>
            <a:ext cx="3175000" cy="3175000"/>
          </a:xfrm>
          <a:prstGeom prst="ellipse">
            <a:avLst/>
          </a:prstGeom>
          <a:solidFill>
            <a:srgbClr val="10B981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508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产品用户场景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1651000"/>
            <a:ext cx="6096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651000"/>
            <a:ext cx="76200" cy="2222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25500" y="1841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1803400"/>
            <a:ext cx="495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摄影爱好者与专业人士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7902" flipH="false" flipV="false">
            <a:off x="825507" y="2406650"/>
            <a:ext cx="552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825500" y="2603500"/>
            <a:ext cx="1841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核心场景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处理海量RAW/ProRes高清素材，需快速无损备份以进行后期归档与管理。</a:t>
            </a:r>
          </a:p>
        </p:txBody>
      </p:sp>
      <p:cxnSp>
        <p:nvCxnSpPr>
          <p:cNvPr name="Connector 10" id="10"/>
          <p:cNvCxnSpPr/>
          <p:nvPr/>
        </p:nvCxnSpPr>
        <p:spPr>
          <a:xfrm rot="5357030" flipH="false" flipV="false">
            <a:off x="2286000" y="31686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2921000" y="2603500"/>
            <a:ext cx="1714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用户痛点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云端上传慢、成本高；手动复制效率低，且缺乏智能分类管理能力。</a:t>
            </a:r>
          </a:p>
        </p:txBody>
      </p:sp>
      <p:cxnSp>
        <p:nvCxnSpPr>
          <p:cNvPr name="Connector 12" id="12"/>
          <p:cNvCxnSpPr/>
          <p:nvPr/>
        </p:nvCxnSpPr>
        <p:spPr>
          <a:xfrm rot="5357030" flipH="false" flipV="false">
            <a:off x="4191000" y="31686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826000" y="2603500"/>
            <a:ext cx="165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USB高速传输+AI智能分类，完美适配大容量、高质量素材管理需求。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08000" y="4191000"/>
            <a:ext cx="6096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08000" y="4191000"/>
            <a:ext cx="76200" cy="2222500"/>
          </a:xfrm>
          <a:prstGeom prst="roundRect">
            <a:avLst>
              <a:gd name="adj" fmla="val 0"/>
            </a:avLst>
          </a:prstGeom>
          <a:solidFill>
            <a:srgbClr val="10B981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25500" y="43815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397000" y="4343400"/>
            <a:ext cx="495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家庭用户群体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7902" flipH="false" flipV="false">
            <a:off x="825507" y="4946650"/>
            <a:ext cx="552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825500" y="5080000"/>
            <a:ext cx="1841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核心场景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记录儿童成长、家庭聚会等珍贵瞬间，需要长期、安全、便捷的备份方案。</a:t>
            </a:r>
          </a:p>
        </p:txBody>
      </p:sp>
      <p:cxnSp>
        <p:nvCxnSpPr>
          <p:cNvPr name="Connector 20" id="20"/>
          <p:cNvCxnSpPr/>
          <p:nvPr/>
        </p:nvCxnSpPr>
        <p:spPr>
          <a:xfrm rot="5357030" flipH="false" flipV="false">
            <a:off x="2286000" y="5645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2921000" y="5080000"/>
            <a:ext cx="1714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用户痛点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担忧云端隐私泄露风险；专业软件操作复杂，老人小孩难以独立上手。</a:t>
            </a:r>
          </a:p>
        </p:txBody>
      </p:sp>
      <p:cxnSp>
        <p:nvCxnSpPr>
          <p:cNvPr name="Connector 22" id="22"/>
          <p:cNvCxnSpPr/>
          <p:nvPr/>
        </p:nvCxnSpPr>
        <p:spPr>
          <a:xfrm rot="5357030" flipH="false" flipV="false">
            <a:off x="4191000" y="5645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4826000" y="5080000"/>
            <a:ext cx="165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纯本地备份保障隐私，极简一键操作，让全家成员都能轻松留存回忆。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6"/>
          <a:srcRect l="0" r="0" t="0" b="46691"/>
          <a:stretch>
            <a:fillRect/>
          </a:stretch>
        </p:blipFill>
        <p:spPr>
          <a:xfrm rot="0" flipH="false" flipV="false">
            <a:off x="7112000" y="1651000"/>
            <a:ext cx="4318000" cy="3683000"/>
          </a:xfrm>
          <a:prstGeom prst="rect">
            <a:avLst/>
          </a:prstGeom>
          <a:noFill/>
          <a:ln w="12700" cmpd="sng" cap="flat">
            <a:solidFill>
              <a:srgbClr val="000000">
                <a:alpha val="5000"/>
              </a:srgbClr>
            </a:solidFill>
            <a:prstDash val="solid"/>
            <a:round/>
          </a:ln>
        </p:spPr>
      </p:pic>
      <p:sp>
        <p:nvSpPr>
          <p:cNvPr name="AutoShape 25" id="25"/>
          <p:cNvSpPr/>
          <p:nvPr/>
        </p:nvSpPr>
        <p:spPr>
          <a:xfrm rot="0" flipH="false" flipV="false">
            <a:off x="7112000" y="5588000"/>
            <a:ext cx="4318000" cy="1016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239000" y="57150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简单、安全、触手可及。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无论是专业创作还是家庭记录，iCloudFriend 都让数据管理回归简单，让用户专注于生活本身。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0" y="3810000"/>
            <a:ext cx="5080000" cy="5080000"/>
          </a:xfrm>
          <a:prstGeom prst="ellipse">
            <a:avLst/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-635000"/>
            <a:ext cx="2540000" cy="2540000"/>
          </a:xfrm>
          <a:prstGeom prst="ellipse">
            <a:avLst/>
          </a:prstGeom>
          <a:solidFill>
            <a:srgbClr val="22C55E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4445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差异化竞争力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1905000"/>
            <a:ext cx="266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1905000"/>
            <a:ext cx="266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98500" y="2159000"/>
            <a:ext cx="457200" cy="4572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270000" y="2133600"/>
            <a:ext cx="184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极致便捷体验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19098" flipH="false" flipV="false">
            <a:off x="698518" y="2914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698500" y="3175000"/>
            <a:ext cx="2349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传统痛点：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无需依赖外网或复杂配置，告别iCloud同步延迟与专业工具的繁琐操作流程。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98500" y="4889500"/>
            <a:ext cx="2286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87400" y="4978400"/>
            <a:ext cx="2095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核心优势：</a:t>
            </a:r>
            <a:r>
              <a:rPr lang="en-US" b="fals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同一Wi-Fi环境下自动发现设备，用户仅需一键点击“开始备份”，即可完成全量数据同步，操作门槛为零。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365500" y="1905000"/>
            <a:ext cx="266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365500" y="1905000"/>
            <a:ext cx="266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556000" y="2159000"/>
            <a:ext cx="457200" cy="4572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4127500" y="2133600"/>
            <a:ext cx="184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绝对经济成本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9098" flipH="false" flipV="false">
            <a:off x="3556018" y="2914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3556000" y="3175000"/>
            <a:ext cx="2349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传统痛点：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摆脱iCloud订阅的“永久账单”，规避专业工具如iMazing高昂的一次性授权费用。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556000" y="4889500"/>
            <a:ext cx="2286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644900" y="4978400"/>
            <a:ext cx="2095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核心优势：</a:t>
            </a:r>
            <a:r>
              <a:rPr lang="en-US" b="fals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采用“基础免费+专业版￥99买断”模式，无后续隐形消费，长期持有成本仅为云服务的1/10，性价比极高。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23000" y="1905000"/>
            <a:ext cx="266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23000" y="1905000"/>
            <a:ext cx="266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413500" y="2159000"/>
            <a:ext cx="457200" cy="4572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6985000" y="2133600"/>
            <a:ext cx="184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银行级隐私安全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19098" flipH="false" flipV="false">
            <a:off x="6413518" y="2914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6413500" y="3175000"/>
            <a:ext cx="2349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传统痛点：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拒绝云端存储带来的数据泄露风险，规避隐私政策不透明及第三方服务器监管盲区。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413500" y="4889500"/>
            <a:ext cx="2286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502400" y="4978400"/>
            <a:ext cx="2095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核心优势：</a:t>
            </a:r>
            <a:r>
              <a:rPr lang="en-US" b="fals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实现iPhone与Windows电脑点对点加密传输，服务器全程不触碰用户数据，从物理层面隔绝隐私泄露可能。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080500" y="1905000"/>
            <a:ext cx="266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9080500" y="1905000"/>
            <a:ext cx="266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271000" y="2159000"/>
            <a:ext cx="457200" cy="4572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9842500" y="2133600"/>
            <a:ext cx="1841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AI赋能智能管理</a:t>
            </a:r>
            <a:endParaRPr lang="en-US" sz="1100"/>
          </a:p>
        </p:txBody>
      </p:sp>
      <p:cxnSp>
        <p:nvCxnSpPr>
          <p:cNvPr name="Connector 34" id="34"/>
          <p:cNvCxnSpPr/>
          <p:nvPr/>
        </p:nvCxnSpPr>
        <p:spPr>
          <a:xfrm rot="-19098" flipH="false" flipV="false">
            <a:off x="9271018" y="2914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5" id="35"/>
          <p:cNvSpPr/>
          <p:nvPr/>
        </p:nvSpPr>
        <p:spPr>
          <a:xfrm rot="0" flipH="false" flipV="false">
            <a:off x="9271000" y="3175000"/>
            <a:ext cx="2349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传统痛点：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解决原生工具功能单一、专业软件操作复杂的问题，让普通用户也能轻松管理海量数据。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9271000" y="4889500"/>
            <a:ext cx="2286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9359900" y="4978400"/>
            <a:ext cx="2095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核心优势：</a:t>
            </a:r>
            <a:r>
              <a:rPr lang="en-US" b="fals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内置AI引擎自动识别场景、人物，完成照片分类、重复清理与智能标签，彻底解放用户双手，提升整理效率。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508000" y="6350000"/>
            <a:ext cx="11239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四大核心壁垒构建市场护城河，重新定义移动端数据管理的便捷性、经济性与安全性标准。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381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05 商业模式与定价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06" flipH="false" flipV="false">
            <a:off x="508004" y="1136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508000" y="1524000"/>
            <a:ext cx="55245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524000"/>
            <a:ext cx="5524500" cy="76200"/>
          </a:xfrm>
          <a:prstGeom prst="roundRect">
            <a:avLst>
              <a:gd name="adj" fmla="val 0"/>
            </a:avLst>
          </a:prstGeom>
          <a:solidFill>
            <a:srgbClr val="9CA3A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841500"/>
            <a:ext cx="5016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基础版</a:t>
            </a: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永久免费，零门槛体验核心价值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8703" flipH="false" flipV="false">
            <a:off x="762008" y="2533650"/>
            <a:ext cx="501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762000" y="2730500"/>
            <a:ext cx="5016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以免费服务快速切入市场，提供核心备份能力，降低用户尝试成本，积累海量用户基数，形成自发的口碑传播效应。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810000"/>
            <a:ext cx="2349500" cy="762000"/>
          </a:xfrm>
          <a:prstGeom prst="roundRect">
            <a:avLst>
              <a:gd name="adj" fmla="val 0"/>
            </a:avLst>
          </a:prstGeom>
          <a:solidFill>
            <a:srgbClr val="F3F4F6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89000" y="3937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270000" y="3911600"/>
            <a:ext cx="177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极速传输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高速Wi-Fi直连，断点续传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302000" y="3810000"/>
            <a:ext cx="2476500" cy="762000"/>
          </a:xfrm>
          <a:prstGeom prst="roundRect">
            <a:avLst>
              <a:gd name="adj" fmla="val 0"/>
            </a:avLst>
          </a:prstGeom>
          <a:solidFill>
            <a:srgbClr val="F3F4F6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429000" y="39370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3810000" y="3911600"/>
            <a:ext cx="1905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单设备基础备份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支持单台iPhone，原图无损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953000"/>
            <a:ext cx="5016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注：基础版每月限制备份500张照片，满足轻度用户日常基础需求。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159500" y="1524000"/>
            <a:ext cx="55245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159500" y="1524000"/>
            <a:ext cx="55245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13500" y="1841500"/>
            <a:ext cx="5016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专业版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| 一次性付费 ¥99，解锁全场景能力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8703" flipH="false" flipV="false">
            <a:off x="6413508" y="2533650"/>
            <a:ext cx="501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6413500" y="2730500"/>
            <a:ext cx="5016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针对有深度管理需求的用户，提供无限制、智能化的高级服务，完成免费到付费的转化，实现产品核心商业闭环与持续盈利。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13500" y="3810000"/>
            <a:ext cx="15875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540500" y="3937000"/>
            <a:ext cx="279400" cy="2794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6540500" y="4381500"/>
            <a:ext cx="1333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无限设备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支持多台iPhone/iPad同时备份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128000" y="3810000"/>
            <a:ext cx="15875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255000" y="3937000"/>
            <a:ext cx="279400" cy="2794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8255000" y="4381500"/>
            <a:ext cx="1333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 智能套件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自动分类、去重、标签管理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779000" y="3810000"/>
            <a:ext cx="15875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9906000" y="3937000"/>
            <a:ext cx="279400" cy="2794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9906000" y="4381500"/>
            <a:ext cx="1333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终身权益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无限备份量，永久免费升级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508000" y="58420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508000" y="5842000"/>
            <a:ext cx="76200" cy="762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62000" y="5943600"/>
            <a:ext cx="1066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“免费增值”模式既保证了用户的低门槛接入，又通过高价值的专业功能实现了商业变现，同时终身升级策略极大地提升了用户的长期留存与满意度。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016000"/>
            <a:ext cx="3810000" cy="3810000"/>
          </a:xfrm>
          <a:prstGeom prst="ellipse">
            <a:avLst/>
          </a:prstGeom>
          <a:solidFill>
            <a:srgbClr val="10B981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508000"/>
            <a:ext cx="76200" cy="457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11200" y="457200"/>
            <a:ext cx="1016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核心价值：便捷、经济、隐私安全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906" flipH="false" flipV="false">
            <a:off x="508004" y="1263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508000" y="1778000"/>
            <a:ext cx="36322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1778000"/>
            <a:ext cx="36322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98500" y="2032000"/>
            <a:ext cx="609600" cy="6096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00100" y="21336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511300" y="20955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便捷：高速Wi-Fi无线备份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3481" flipH="false" flipV="false">
            <a:off x="698512" y="3041650"/>
            <a:ext cx="323852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98500" y="3302000"/>
            <a:ext cx="32512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通过局域Wi-Fi网络直连，将照片高速备份至用户自己的Windows电脑。摆脱数据线束缚，备份过程更加便捷。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394200" y="1778000"/>
            <a:ext cx="36322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394200" y="1778000"/>
            <a:ext cx="36322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84700" y="2032000"/>
            <a:ext cx="609600" cy="6096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86300" y="21336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5397500" y="20955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经济：一次性付费，终身使用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3481" flipH="false" flipV="false">
            <a:off x="4584712" y="3041650"/>
            <a:ext cx="323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4584700" y="3302000"/>
            <a:ext cx="32512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基础功能永久免费，专业版一次性付费，解锁全部功能并享受终身免费升级，告别昂贵的订阅费。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280400" y="1778000"/>
            <a:ext cx="36322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280400" y="1778000"/>
            <a:ext cx="36322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470900" y="2032000"/>
            <a:ext cx="609600" cy="6096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572500" y="2133600"/>
            <a:ext cx="406400" cy="4064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9283700" y="20955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安全：点对点传输，数据不上云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-13481" flipH="false" flipV="false">
            <a:off x="8470912" y="3041650"/>
            <a:ext cx="323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8470900" y="3302000"/>
            <a:ext cx="32512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所有数据仅在您的iPhone和Windows电脑之间传输，不经过第三方服务器，彻底杜绝隐私泄露风险。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3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3175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 产品功能特性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889000"/>
            <a:ext cx="1117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每一项功能，都为实现便捷、经济、隐私安全而设计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38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651000"/>
            <a:ext cx="546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B386"/>
                </a:solidFill>
                <a:latin typeface="Noto Sans SC"/>
                <a:ea typeface="Noto Sans SC"/>
                <a:cs typeface="Noto Sans SC"/>
                <a:sym typeface="Noto Sans SC"/>
              </a:rPr>
              <a:t>▍ 核心功能：极速、智能、便捷的备份体验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2286000"/>
            <a:ext cx="266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2286000"/>
            <a:ext cx="50800" cy="1714500"/>
          </a:xfrm>
          <a:prstGeom prst="roundRect">
            <a:avLst>
              <a:gd name="adj" fmla="val 0"/>
            </a:avLst>
          </a:prstGeom>
          <a:solidFill>
            <a:srgbClr val="00B386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98500" y="2413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143000" y="2387600"/>
            <a:ext cx="190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高速Wi-Fi传输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19098" flipH="false" flipV="false">
            <a:off x="698518" y="2851150"/>
            <a:ext cx="228603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698500" y="2984500"/>
            <a:ext cx="2349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通过局域Wi-Fi网络，速度可达XXMB/s，备份100GB仅需约XX分钟。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365500" y="2286000"/>
            <a:ext cx="266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365500" y="2286000"/>
            <a:ext cx="50800" cy="1714500"/>
          </a:xfrm>
          <a:prstGeom prst="roundRect">
            <a:avLst>
              <a:gd name="adj" fmla="val 0"/>
            </a:avLst>
          </a:prstGeom>
          <a:solidFill>
            <a:srgbClr val="00B386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556000" y="24130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4000500" y="2387600"/>
            <a:ext cx="190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原图无损备份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9098" flipH="false" flipV="false">
            <a:off x="3556018" y="2851150"/>
            <a:ext cx="228603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3556000" y="2984500"/>
            <a:ext cx="2349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100%保留原始画质与完整元数据（EXIF/GPS信息），专业摄影师的创作资产得到完美守护。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08000" y="4191000"/>
            <a:ext cx="266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8000" y="4191000"/>
            <a:ext cx="50800" cy="1714500"/>
          </a:xfrm>
          <a:prstGeom prst="roundRect">
            <a:avLst>
              <a:gd name="adj" fmla="val 0"/>
            </a:avLst>
          </a:prstGeom>
          <a:solidFill>
            <a:srgbClr val="00B386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98500" y="43180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143000" y="4292600"/>
            <a:ext cx="190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智能增量备份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19098" flipH="false" flipV="false">
            <a:off x="698518" y="4756150"/>
            <a:ext cx="228603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698500" y="4889500"/>
            <a:ext cx="2349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内置指纹识别技术，仅传输新增或修改的照片，避免重复劳动，节省时间与存储空间。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3365500" y="4191000"/>
            <a:ext cx="266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365500" y="4191000"/>
            <a:ext cx="50800" cy="1714500"/>
          </a:xfrm>
          <a:prstGeom prst="roundRect">
            <a:avLst>
              <a:gd name="adj" fmla="val 0"/>
            </a:avLst>
          </a:prstGeom>
          <a:solidFill>
            <a:srgbClr val="00B386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3556000" y="4318000"/>
            <a:ext cx="304800" cy="3048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4000500" y="4292600"/>
            <a:ext cx="190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断点续传保障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19098" flipH="false" flipV="false">
            <a:off x="3556018" y="4756150"/>
            <a:ext cx="228603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3556000" y="4889500"/>
            <a:ext cx="2349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意外断电或拔出设备后，系统自动记录进度，再次连接时从断点继续传输，无需重复备份。</a:t>
            </a:r>
            <a:endParaRPr lang="en-US" sz="1100"/>
          </a:p>
        </p:txBody>
      </p:sp>
      <p:cxnSp>
        <p:nvCxnSpPr>
          <p:cNvPr name="Connector 30" id="30"/>
          <p:cNvCxnSpPr/>
          <p:nvPr/>
        </p:nvCxnSpPr>
        <p:spPr>
          <a:xfrm rot="5389257" flipH="false" flipV="false">
            <a:off x="4254490" y="3930670"/>
            <a:ext cx="406402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31" id="31"/>
          <p:cNvSpPr/>
          <p:nvPr/>
        </p:nvSpPr>
        <p:spPr>
          <a:xfrm rot="0" flipH="false" flipV="false">
            <a:off x="6477000" y="1651000"/>
            <a:ext cx="520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B386"/>
                </a:solidFill>
                <a:latin typeface="Noto Sans SC"/>
                <a:ea typeface="Noto Sans SC"/>
                <a:cs typeface="Noto Sans SC"/>
                <a:sym typeface="Noto Sans SC"/>
              </a:rPr>
              <a:t>▍ 特色功能：AI赋能，经济安全的数据管理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477000" y="2286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604000" y="2413000"/>
            <a:ext cx="304800" cy="304800"/>
          </a:xfrm>
          <a:prstGeom prst="rect">
            <a:avLst/>
          </a:prstGeom>
        </p:spPr>
      </p:pic>
      <p:sp>
        <p:nvSpPr>
          <p:cNvPr name="AutoShape 34" id="34"/>
          <p:cNvSpPr/>
          <p:nvPr/>
        </p:nvSpPr>
        <p:spPr>
          <a:xfrm rot="0" flipH="false" flipV="false">
            <a:off x="6985000" y="2387600"/>
            <a:ext cx="203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AI智能分类整理</a:t>
            </a:r>
            <a:endParaRPr lang="en-US" sz="1100"/>
          </a:p>
        </p:txBody>
      </p:sp>
      <p:cxnSp>
        <p:nvCxnSpPr>
          <p:cNvPr name="Connector 35" id="35"/>
          <p:cNvCxnSpPr/>
          <p:nvPr/>
        </p:nvCxnSpPr>
        <p:spPr>
          <a:xfrm rot="-18581" flipH="false" flipV="false">
            <a:off x="6604017" y="2851150"/>
            <a:ext cx="234953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6" id="36"/>
          <p:cNvSpPr/>
          <p:nvPr/>
        </p:nvSpPr>
        <p:spPr>
          <a:xfrm rot="0" flipH="false" flipV="false">
            <a:off x="6604000" y="2984500"/>
            <a:ext cx="2349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基于深度学习算法，按时间、地点、人物自动聚类，并生成智能标签，海量照片一目了然。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9207500" y="2286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9334500" y="2413000"/>
            <a:ext cx="304800" cy="304800"/>
          </a:xfrm>
          <a:prstGeom prst="rect">
            <a:avLst/>
          </a:prstGeom>
        </p:spPr>
      </p:pic>
      <p:sp>
        <p:nvSpPr>
          <p:cNvPr name="AutoShape 39" id="39"/>
          <p:cNvSpPr/>
          <p:nvPr/>
        </p:nvSpPr>
        <p:spPr>
          <a:xfrm rot="0" flipH="false" flipV="false">
            <a:off x="9715500" y="2387600"/>
            <a:ext cx="203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重复照片清理</a:t>
            </a:r>
            <a:endParaRPr lang="en-US" sz="1100"/>
          </a:p>
        </p:txBody>
      </p:sp>
      <p:cxnSp>
        <p:nvCxnSpPr>
          <p:cNvPr name="Connector 40" id="40"/>
          <p:cNvCxnSpPr/>
          <p:nvPr/>
        </p:nvCxnSpPr>
        <p:spPr>
          <a:xfrm rot="-18581" flipH="false" flipV="false">
            <a:off x="9334517" y="2851150"/>
            <a:ext cx="234953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1" id="41"/>
          <p:cNvSpPr/>
          <p:nvPr/>
        </p:nvSpPr>
        <p:spPr>
          <a:xfrm rot="0" flipH="false" flipV="false">
            <a:off x="9334500" y="2984500"/>
            <a:ext cx="2349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自动扫描并识别相似或重复的照片，提供清理建议，有效释放冗余的存储空间。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6477000" y="4191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43" id="43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604000" y="4318000"/>
            <a:ext cx="304800" cy="304800"/>
          </a:xfrm>
          <a:prstGeom prst="rect">
            <a:avLst/>
          </a:prstGeom>
        </p:spPr>
      </p:pic>
      <p:sp>
        <p:nvSpPr>
          <p:cNvPr name="AutoShape 44" id="44"/>
          <p:cNvSpPr/>
          <p:nvPr/>
        </p:nvSpPr>
        <p:spPr>
          <a:xfrm rot="0" flipH="false" flipV="false">
            <a:off x="6985000" y="4292600"/>
            <a:ext cx="203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HEIC批量转换</a:t>
            </a:r>
            <a:endParaRPr lang="en-US" sz="1100"/>
          </a:p>
        </p:txBody>
      </p:sp>
      <p:cxnSp>
        <p:nvCxnSpPr>
          <p:cNvPr name="Connector 45" id="45"/>
          <p:cNvCxnSpPr/>
          <p:nvPr/>
        </p:nvCxnSpPr>
        <p:spPr>
          <a:xfrm rot="-18581" flipH="false" flipV="false">
            <a:off x="6604017" y="4756150"/>
            <a:ext cx="234953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6" id="46"/>
          <p:cNvSpPr/>
          <p:nvPr/>
        </p:nvSpPr>
        <p:spPr>
          <a:xfrm rot="0" flipH="false" flipV="false">
            <a:off x="6604000" y="4889500"/>
            <a:ext cx="2349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一键将iOS设备的HEIC格式转换为兼容性更广的JPEG格式，解决跨平台查看难题。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9207500" y="4191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48" id="48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9334500" y="4318000"/>
            <a:ext cx="304800" cy="304800"/>
          </a:xfrm>
          <a:prstGeom prst="rect">
            <a:avLst/>
          </a:prstGeom>
        </p:spPr>
      </p:pic>
      <p:sp>
        <p:nvSpPr>
          <p:cNvPr name="AutoShape 49" id="49"/>
          <p:cNvSpPr/>
          <p:nvPr/>
        </p:nvSpPr>
        <p:spPr>
          <a:xfrm rot="0" flipH="false" flipV="false">
            <a:off x="9715500" y="4292600"/>
            <a:ext cx="203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终身免费升级</a:t>
            </a:r>
            <a:endParaRPr lang="en-US" sz="1100"/>
          </a:p>
        </p:txBody>
      </p:sp>
      <p:cxnSp>
        <p:nvCxnSpPr>
          <p:cNvPr name="Connector 50" id="50"/>
          <p:cNvCxnSpPr/>
          <p:nvPr/>
        </p:nvCxnSpPr>
        <p:spPr>
          <a:xfrm rot="-18581" flipH="false" flipV="false">
            <a:off x="9334517" y="4756150"/>
            <a:ext cx="234953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1" id="51"/>
          <p:cNvSpPr/>
          <p:nvPr/>
        </p:nvSpPr>
        <p:spPr>
          <a:xfrm rot="0" flipH="false" flipV="false">
            <a:off x="9334500" y="4889500"/>
            <a:ext cx="2349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购买专业版后，永久享受所有未来功能更新与技术支持，无需支付额外费用。</a:t>
            </a:r>
            <a:endParaRPr lang="en-US" sz="1100"/>
          </a:p>
        </p:txBody>
      </p:sp>
      <p:sp>
        <p:nvSpPr>
          <p:cNvPr name="AutoShape 52" id="52"/>
          <p:cNvSpPr/>
          <p:nvPr/>
        </p:nvSpPr>
        <p:spPr>
          <a:xfrm rot="0" flipH="false" flipV="false">
            <a:off x="508000" y="6096000"/>
            <a:ext cx="11176000" cy="635000"/>
          </a:xfrm>
          <a:prstGeom prst="roundRect">
            <a:avLst>
              <a:gd name="adj" fmla="val 0"/>
            </a:avLst>
          </a:prstGeom>
          <a:solidFill>
            <a:srgbClr val="00B38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53" id="53"/>
          <p:cNvPicPr>
            <a:picLocks noChangeAspect="true"/>
          </p:cNvPicPr>
          <p:nvPr/>
        </p:nvPicPr>
        <p:blipFill>
          <a:blip r:embed="rId18"/>
          <a:srcRect l="0" r="0" t="11165" b="11165"/>
          <a:stretch>
            <a:fillRect/>
          </a:stretch>
        </p:blipFill>
        <p:spPr>
          <a:xfrm rot="0" flipH="false" flipV="false">
            <a:off x="825500" y="6159500"/>
            <a:ext cx="508000" cy="50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4" id="54"/>
          <p:cNvSpPr/>
          <p:nvPr/>
        </p:nvSpPr>
        <p:spPr>
          <a:xfrm rot="0" flipH="false" flipV="false">
            <a:off x="1587500" y="6159500"/>
            <a:ext cx="266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原生支持 HEIC 格式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10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无损解析，完美还原iPhone拍摄的高压缩比照片。</a:t>
            </a:r>
          </a:p>
        </p:txBody>
      </p:sp>
      <p:cxnSp>
        <p:nvCxnSpPr>
          <p:cNvPr name="Connector 55" id="55"/>
          <p:cNvCxnSpPr/>
          <p:nvPr/>
        </p:nvCxnSpPr>
        <p:spPr>
          <a:xfrm rot="5314101" flipH="false" flipV="false">
            <a:off x="4127421" y="6407309"/>
            <a:ext cx="50815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56" id="56"/>
          <p:cNvPicPr>
            <a:picLocks noChangeAspect="true"/>
          </p:cNvPicPr>
          <p:nvPr/>
        </p:nvPicPr>
        <p:blipFill>
          <a:blip r:embed="rId19"/>
          <a:srcRect l="0" r="0" t="0" b="0"/>
          <a:stretch>
            <a:fillRect/>
          </a:stretch>
        </p:blipFill>
        <p:spPr>
          <a:xfrm rot="0" flipH="false" flipV="false">
            <a:off x="4635500" y="6159500"/>
            <a:ext cx="508000" cy="50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7" id="57"/>
          <p:cNvSpPr/>
          <p:nvPr/>
        </p:nvSpPr>
        <p:spPr>
          <a:xfrm rot="0" flipH="false" flipV="false">
            <a:off x="5397500" y="6159500"/>
            <a:ext cx="266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兼容专业 RAW 格式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10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支持DNG等多种RAW格式，为摄影创作保留最大后期空间。</a:t>
            </a:r>
          </a:p>
        </p:txBody>
      </p:sp>
      <p:cxnSp>
        <p:nvCxnSpPr>
          <p:cNvPr name="Connector 58" id="58"/>
          <p:cNvCxnSpPr/>
          <p:nvPr/>
        </p:nvCxnSpPr>
        <p:spPr>
          <a:xfrm rot="5314101" flipH="false" flipV="false">
            <a:off x="7937421" y="6407309"/>
            <a:ext cx="50815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59" id="59"/>
          <p:cNvPicPr>
            <a:picLocks noChangeAspect="true"/>
          </p:cNvPicPr>
          <p:nvPr/>
        </p:nvPicPr>
        <p:blipFill>
          <a:blip r:embed="rId20"/>
          <a:srcRect l="0" r="0" t="0" b="0"/>
          <a:stretch>
            <a:fillRect/>
          </a:stretch>
        </p:blipFill>
        <p:spPr>
          <a:xfrm rot="0" flipH="false" flipV="false">
            <a:off x="8445500" y="6159500"/>
            <a:ext cx="508000" cy="50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0" id="60"/>
          <p:cNvSpPr/>
          <p:nvPr/>
        </p:nvSpPr>
        <p:spPr>
          <a:xfrm rot="0" flipH="false" flipV="false">
            <a:off x="9207500" y="61595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完整保留 Live Photos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10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动态照片无损备份，还原每一刻的生动瞬间。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508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05 市场推广规划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3906" flipH="false" flipV="false">
            <a:off x="508004" y="1390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508000" y="2032000"/>
            <a:ext cx="3556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2032000"/>
            <a:ext cx="3556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23495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70000" y="23114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第一阶段：种子用户获取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048000"/>
            <a:ext cx="3048000" cy="3302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25500" y="3073400"/>
            <a:ext cx="2921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上线后 0 - 6 个月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683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聚焦产品首发与垂直媒体曝光，结合内容营销、SEO布局及KOL/KOC合作，精准触达核心圈层用户。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4323" flipH="false" flipV="false">
            <a:off x="762013" y="507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762000" y="52705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核心目标：获取首批</a:t>
            </a: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10,000+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种子用户，建立初步市场口碑。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318000" y="2032000"/>
            <a:ext cx="3556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318000" y="2032000"/>
            <a:ext cx="3556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72000" y="23495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5080000" y="23114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第二阶段：口碑与病毒传播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572000" y="3048000"/>
            <a:ext cx="3048000" cy="3302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635500" y="3073400"/>
            <a:ext cx="2921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上线后 6 - 18 个月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572000" y="3683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推出用户推荐激励计划，深耕微博、小红书社媒运营，以极致产品体验驱动用户自发裂变，扩大品牌声量。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14323" flipH="false" flipV="false">
            <a:off x="4572013" y="507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4572000" y="52705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核心目标：用户量突破</a:t>
            </a: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100万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，实现初步商业盈利闭环。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128000" y="2032000"/>
            <a:ext cx="3556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128000" y="2032000"/>
            <a:ext cx="3556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349500"/>
            <a:ext cx="406400" cy="4064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8890000" y="23114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第三阶段：规模化爆发增长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382000" y="3048000"/>
            <a:ext cx="3048000" cy="3302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445500" y="3073400"/>
            <a:ext cx="2921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上线 18 个月后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382000" y="3683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深化应用商店ASO优化，开展精准付费广告投放，与主流硬件厂商达成预装与捆绑合作，拓宽获客渠道。</a:t>
            </a:r>
            <a:endParaRPr lang="en-US" sz="1100"/>
          </a:p>
        </p:txBody>
      </p:sp>
      <p:cxnSp>
        <p:nvCxnSpPr>
          <p:cNvPr name="Connector 30" id="30"/>
          <p:cNvCxnSpPr/>
          <p:nvPr/>
        </p:nvCxnSpPr>
        <p:spPr>
          <a:xfrm rot="-14323" flipH="false" flipV="false">
            <a:off x="8382013" y="507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31" id="31"/>
          <p:cNvSpPr/>
          <p:nvPr/>
        </p:nvSpPr>
        <p:spPr>
          <a:xfrm rot="0" flipH="false" flipV="false">
            <a:off x="8382000" y="52705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核心目标：用户量突破</a:t>
            </a: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1000万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，成为行业绝对领导者。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508000" y="5969000"/>
            <a:ext cx="11176000" cy="635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62000" y="6096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以「便捷、经济、隐私安全」为核心卖点，通过口碑营销和精准投放，实现从0到1的突破。</a:t>
            </a:r>
            <a:endParaRPr lang="en-US" sz="1100"/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{"Label":"1","ContentProducer":"001191110102MACQD9K64010000","ProduceID":"7651485388108844228","ReservedCode1":"","ContentPropagator":"","PropagateID":"","ReservedCode2":""}</vt:lpwstr>
  </property>
</Properties>
</file>